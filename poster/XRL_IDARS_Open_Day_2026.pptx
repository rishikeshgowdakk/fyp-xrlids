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79" cy="151196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79" cy="15119604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mplate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79" cy="2468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74320" y="2523744"/>
            <a:ext cx="498348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560320"/>
            <a:ext cx="4910328" cy="274320"/>
          </a:xfrm>
          <a:prstGeom prst="roundRect">
            <a:avLst/>
          </a:prstGeom>
          <a:solidFill>
            <a:srgbClr val="1B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18288"/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TEAM MEMBERS &amp; PROJECT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2852927"/>
            <a:ext cx="22860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C1121F"/>
                </a:solidFill>
                <a:latin typeface="Arial"/>
              </a:defRPr>
            </a:pPr>
            <a:r>
              <a:t>STUDENTS (GROUP 43)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• Rishikesh Gowda K K</a:t>
            </a:r>
          </a:p>
          <a:p>
            <a:pPr>
              <a:defRPr sz="800">
                <a:solidFill>
                  <a:srgbClr val="475569"/>
                </a:solidFill>
                <a:latin typeface="Arial"/>
              </a:defRPr>
            </a:pPr>
            <a:r>
              <a:t>   USN: 1JS22CS136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• Sharanya M</a:t>
            </a:r>
          </a:p>
          <a:p>
            <a:pPr>
              <a:defRPr sz="800">
                <a:solidFill>
                  <a:srgbClr val="475569"/>
                </a:solidFill>
                <a:latin typeface="Arial"/>
              </a:defRPr>
            </a:pPr>
            <a:r>
              <a:t>   USN: 1JS22CS153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• Sudarshan</a:t>
            </a:r>
          </a:p>
          <a:p>
            <a:pPr>
              <a:defRPr sz="800">
                <a:solidFill>
                  <a:srgbClr val="475569"/>
                </a:solidFill>
                <a:latin typeface="Arial"/>
              </a:defRPr>
            </a:pPr>
            <a:r>
              <a:t>   USN: 1JS22CS173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• Suraj Rao G</a:t>
            </a:r>
          </a:p>
          <a:p>
            <a:pPr>
              <a:defRPr sz="800">
                <a:solidFill>
                  <a:srgbClr val="475569"/>
                </a:solidFill>
                <a:latin typeface="Arial"/>
              </a:defRPr>
            </a:pPr>
            <a:r>
              <a:t>   USN: 1JS22CS174</a:t>
            </a:r>
          </a:p>
          <a:p>
            <a:pPr>
              <a:defRPr sz="750" i="1">
                <a:solidFill>
                  <a:srgbClr val="475569"/>
                </a:solidFill>
                <a:latin typeface="Arial"/>
              </a:defRPr>
            </a:pPr>
            <a:r>
              <a:t>Dept. of Computer Science &amp; Engg.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4912" y="2852927"/>
            <a:ext cx="24231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B1464"/>
                </a:solidFill>
                <a:latin typeface="Arial"/>
              </a:defRPr>
            </a:pPr>
            <a:r>
              <a:t>PROJECT GUIDE DETAILS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Dr. P. B. Mallikarjuna</a:t>
            </a:r>
          </a:p>
          <a:p>
            <a:pPr>
              <a:defRPr sz="850" b="0">
                <a:solidFill>
                  <a:srgbClr val="475569"/>
                </a:solidFill>
                <a:latin typeface="Arial"/>
              </a:defRPr>
            </a:pPr>
            <a:r>
              <a:t>Professor</a:t>
            </a:r>
          </a:p>
          <a:p>
            <a:pPr>
              <a:defRPr sz="800" b="0">
                <a:solidFill>
                  <a:srgbClr val="475569"/>
                </a:solidFill>
                <a:latin typeface="Arial"/>
              </a:defRPr>
            </a:pPr>
            <a:r>
              <a:t>Department of Computer Science &amp; Engineering</a:t>
            </a:r>
          </a:p>
          <a:p>
            <a:pPr>
              <a:defRPr sz="800" b="1">
                <a:solidFill>
                  <a:srgbClr val="0F172A"/>
                </a:solidFill>
                <a:latin typeface="Arial"/>
              </a:defRPr>
            </a:pPr>
            <a:r>
              <a:t>JSS Academy of Technical Education</a:t>
            </a:r>
          </a:p>
          <a:p>
            <a:pPr>
              <a:defRPr sz="750" b="0">
                <a:solidFill>
                  <a:srgbClr val="475569"/>
                </a:solidFill>
                <a:latin typeface="Arial"/>
              </a:defRPr>
            </a:pPr>
            <a:r>
              <a:t>Bengaluru – 560060, Karnataka</a:t>
            </a:r>
          </a:p>
          <a:p>
            <a:pPr>
              <a:defRPr sz="800" b="1">
                <a:solidFill>
                  <a:srgbClr val="C1121F"/>
                </a:solidFill>
                <a:latin typeface="Arial"/>
              </a:defRPr>
            </a:pPr>
            <a:r>
              <a:t>Lab Venue: A 204 | Academic Block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2523744"/>
            <a:ext cx="5020056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31536" y="2560320"/>
            <a:ext cx="4946904" cy="274320"/>
          </a:xfrm>
          <a:prstGeom prst="round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18288"/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PROJECT TITLE &amp;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852927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B1464"/>
                </a:solidFill>
                <a:latin typeface="Arial"/>
              </a:defRPr>
            </a:pPr>
            <a:r>
              <a:t>Explainable Reinforcement Learning-Based Intrusion Detection and Autonomous Response System (XRL-IDARS)</a:t>
            </a:r>
          </a:p>
          <a:p>
            <a:pPr>
              <a:defRPr sz="850" b="1">
                <a:solidFill>
                  <a:srgbClr val="C1121F"/>
                </a:solidFill>
                <a:latin typeface="Arial"/>
              </a:defRPr>
            </a:pPr>
            <a:r>
              <a:t>Autonomous Network Security • Explainable AI • Deep Q-Learning</a:t>
            </a:r>
          </a:p>
          <a:p>
            <a:pPr>
              <a:defRPr sz="800" b="1">
                <a:solidFill>
                  <a:srgbClr val="0F172A"/>
                </a:solidFill>
                <a:latin typeface="Arial"/>
              </a:defRPr>
            </a:pPr>
            <a:r>
              <a:t>• Project Group: 43   |   Lab: A 204   |   Academic Year: 2025–2026</a:t>
            </a:r>
          </a:p>
          <a:p>
            <a:pPr>
              <a:defRPr sz="800" b="0">
                <a:solidFill>
                  <a:srgbClr val="0F172A"/>
                </a:solidFill>
                <a:latin typeface="Arial"/>
              </a:defRPr>
            </a:pPr>
            <a:r>
              <a:t>• Thematic Area: Cybersecurity, Privacy &amp; Digital Trust</a:t>
            </a:r>
          </a:p>
          <a:p>
            <a:pPr>
              <a:defRPr sz="750" b="0">
                <a:solidFill>
                  <a:srgbClr val="475569"/>
                </a:solidFill>
                <a:latin typeface="Arial"/>
              </a:defRPr>
            </a:pPr>
            <a:r>
              <a:t>• Operational Core: Random Forest (Sole Live ML Detector) + TreeSHAP (&lt;2.5 ms) + Dueling DQN [4 Actions] + Deterministic Safety Gate</a:t>
            </a:r>
          </a:p>
          <a:p>
            <a:pPr>
              <a:defRPr sz="800" b="1">
                <a:solidFill>
                  <a:srgbClr val="1B1464"/>
                </a:solidFill>
                <a:latin typeface="Arial"/>
              </a:defRPr>
            </a:pPr>
            <a:r>
              <a:t>• Live Interface: Real-Time Streamlit SOC Dashboard (Port :8501)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791456"/>
            <a:ext cx="3182112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0896" y="4828032"/>
            <a:ext cx="3108960" cy="274320"/>
          </a:xfrm>
          <a:prstGeom prst="roundRect">
            <a:avLst/>
          </a:prstGeom>
          <a:solidFill>
            <a:srgbClr val="1B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18288"/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111496"/>
            <a:ext cx="299923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30">
                <a:solidFill>
                  <a:srgbClr val="0F172A"/>
                </a:solidFill>
                <a:latin typeface="Arial"/>
              </a:defRPr>
            </a:pPr>
            <a:r>
              <a:t>Enterprise Security Operations Centers (SOCs) face crippling alert fatigue from tens of thousands of daily intrusion warnings, while static IPS policies lack adaptive containment and induce severe collateral service outages.</a:t>
            </a:r>
          </a:p>
          <a:p>
            <a:pPr>
              <a:defRPr sz="730">
                <a:solidFill>
                  <a:srgbClr val="0F172A"/>
                </a:solidFill>
                <a:latin typeface="Arial"/>
              </a:defRPr>
            </a:pPr>
            <a:r>
              <a:t>XRL-IDARS resolves this challenge through a decoupled architecture: sub-millisecond Random Forest classification on 10 deterministic flow statistics (R10), instantaneous local TreeSHAP attribution (&lt;2.5 ms), and a causal 6-dimensional Dueling Deep Q-Network (DQN) response policy.</a:t>
            </a:r>
          </a:p>
          <a:p>
            <a:pPr>
              <a:defRPr sz="730">
                <a:solidFill>
                  <a:srgbClr val="0F172A"/>
                </a:solidFill>
                <a:latin typeface="Arial"/>
              </a:defRPr>
            </a:pPr>
            <a:r>
              <a:t>Operating under an inviolable deterministic safety gate, the system yields +64.3% cost reduction over baseline and 100% critical-host invariant compliance without kernel tampering.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4791456"/>
            <a:ext cx="3218688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02736" y="4828032"/>
            <a:ext cx="3145536" cy="274320"/>
          </a:xfrm>
          <a:prstGeom prst="roundRect">
            <a:avLst/>
          </a:prstGeom>
          <a:solidFill>
            <a:srgbClr val="1B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18288"/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111496"/>
            <a:ext cx="3035808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10" b="1">
                <a:solidFill>
                  <a:srgbClr val="C1121F"/>
                </a:solidFill>
                <a:latin typeface="Arial"/>
              </a:defRPr>
            </a:pPr>
            <a:r>
              <a:t>• Alert Fatigue &amp; Burst Drops: </a:t>
            </a:r>
            <a:r>
              <a:rPr b="0">
                <a:solidFill>
                  <a:srgbClr val="0F172A"/>
                </a:solidFill>
              </a:rPr>
              <a:t>Deep temporal models (LSTMs &gt;12 ms) suffer severe packet drops under line-rate traffic bursts.</a:t>
            </a:r>
          </a:p>
          <a:p>
            <a:pPr>
              <a:defRPr sz="710" b="1">
                <a:solidFill>
                  <a:srgbClr val="C1121F"/>
                </a:solidFill>
                <a:latin typeface="Arial"/>
              </a:defRPr>
            </a:pPr>
            <a:r>
              <a:t>• Opaque Black-Box Detection: </a:t>
            </a:r>
            <a:r>
              <a:rPr b="0">
                <a:solidFill>
                  <a:srgbClr val="0F172A"/>
                </a:solidFill>
              </a:rPr>
              <a:t>Standard ML detectors fail to supply immediate, human-verifiable Shapley feature attributions during incidents.</a:t>
            </a:r>
          </a:p>
          <a:p>
            <a:pPr>
              <a:defRPr sz="710" b="1">
                <a:solidFill>
                  <a:srgbClr val="C1121F"/>
                </a:solidFill>
                <a:latin typeface="Arial"/>
              </a:defRPr>
            </a:pPr>
            <a:r>
              <a:t>• Destructive Collateral Outages: </a:t>
            </a:r>
            <a:r>
              <a:rPr b="0">
                <a:solidFill>
                  <a:srgbClr val="0F172A"/>
                </a:solidFill>
              </a:rPr>
              <a:t>Binary IPS drop rules isolate mission-critical servers, producing severe unintended service downtime.</a:t>
            </a:r>
          </a:p>
          <a:p>
            <a:pPr>
              <a:defRPr sz="710" b="1">
                <a:solidFill>
                  <a:srgbClr val="C1121F"/>
                </a:solidFill>
                <a:latin typeface="Arial"/>
              </a:defRPr>
            </a:pPr>
            <a:r>
              <a:t>• Non-Causal RL State Leakage: </a:t>
            </a:r>
            <a:r>
              <a:rPr b="0">
                <a:solidFill>
                  <a:srgbClr val="0F172A"/>
                </a:solidFill>
              </a:rPr>
              <a:t>Prior RL intrusion response architectures suffer temporal data leakage and exhibit severe policy chattering.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94576" y="4791456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31152" y="4828032"/>
            <a:ext cx="3447288" cy="274320"/>
          </a:xfrm>
          <a:prstGeom prst="roundRect">
            <a:avLst/>
          </a:prstGeom>
          <a:solidFill>
            <a:srgbClr val="1B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18288"/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5111496"/>
            <a:ext cx="33375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10" b="1">
                <a:solidFill>
                  <a:srgbClr val="1B1464"/>
                </a:solidFill>
                <a:latin typeface="Arial"/>
              </a:defRPr>
            </a:pPr>
            <a:r>
              <a:t>1. Sub-Millisecond ML Detection: </a:t>
            </a:r>
            <a:r>
              <a:rPr b="0">
                <a:solidFill>
                  <a:srgbClr val="0F172A"/>
                </a:solidFill>
              </a:rPr>
              <a:t>Train operational RF on R10 flow statistics (&lt;0.80 ms latency, F1 &gt;= 0.95).</a:t>
            </a:r>
          </a:p>
          <a:p>
            <a:pPr>
              <a:defRPr sz="710" b="1">
                <a:solidFill>
                  <a:srgbClr val="1B1464"/>
                </a:solidFill>
                <a:latin typeface="Arial"/>
              </a:defRPr>
            </a:pPr>
            <a:r>
              <a:t>2. Real-Time Explainability: </a:t>
            </a:r>
            <a:r>
              <a:rPr b="0">
                <a:solidFill>
                  <a:srgbClr val="0F172A"/>
                </a:solidFill>
              </a:rPr>
              <a:t>Deliver exact TreeSHAP local attributions in &lt;2.5 ms for top contributing features.</a:t>
            </a:r>
          </a:p>
          <a:p>
            <a:pPr>
              <a:defRPr sz="710" b="1">
                <a:solidFill>
                  <a:srgbClr val="1B1464"/>
                </a:solidFill>
                <a:latin typeface="Arial"/>
              </a:defRPr>
            </a:pPr>
            <a:r>
              <a:t>3. Multi-Tier RL Response Policy: </a:t>
            </a:r>
            <a:r>
              <a:rPr b="0">
                <a:solidFill>
                  <a:srgbClr val="0F172A"/>
                </a:solidFill>
              </a:rPr>
              <a:t>Formulate causal 6D MDP across 4 discrete actions (ALLOW, ALERT, RATE_LIMIT, ISOLATE).</a:t>
            </a:r>
          </a:p>
          <a:p>
            <a:pPr>
              <a:defRPr sz="710" b="1">
                <a:solidFill>
                  <a:srgbClr val="1B1464"/>
                </a:solidFill>
                <a:latin typeface="Arial"/>
              </a:defRPr>
            </a:pPr>
            <a:r>
              <a:t>4. Inviolable Safety Enforcement: </a:t>
            </a:r>
            <a:r>
              <a:rPr b="0">
                <a:solidFill>
                  <a:srgbClr val="0F172A"/>
                </a:solidFill>
              </a:rPr>
              <a:t>Enforce 100% immunity on critical assets via deterministic allowlists &amp; blast circuit breaker.</a:t>
            </a:r>
          </a:p>
          <a:p>
            <a:pPr>
              <a:defRPr sz="710" b="1">
                <a:solidFill>
                  <a:srgbClr val="1B1464"/>
                </a:solidFill>
                <a:latin typeface="Arial"/>
              </a:defRPr>
            </a:pPr>
            <a:r>
              <a:t>5. Interactive SOC Telemetry: </a:t>
            </a:r>
            <a:r>
              <a:rPr b="0">
                <a:solidFill>
                  <a:srgbClr val="0F172A"/>
                </a:solidFill>
              </a:rPr>
              <a:t>Deploy real-time Streamlit SOC dashboard (:8501) with Live, PCAP, and Benchmark modes.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6922008"/>
            <a:ext cx="5486400" cy="2423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0896" y="6958584"/>
            <a:ext cx="5413248" cy="274320"/>
          </a:xfrm>
          <a:prstGeom prst="roundRect">
            <a:avLst/>
          </a:prstGeom>
          <a:solidFill>
            <a:srgbClr val="1B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18288"/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SYSTEM ARCHITECTURE / BLOCK DIAGRAM</a:t>
            </a:r>
          </a:p>
        </p:txBody>
      </p:sp>
      <p:pic>
        <p:nvPicPr>
          <p:cNvPr id="22" name="Picture 21" descr="poster_architecture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33488"/>
            <a:ext cx="5303520" cy="1753275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870448" y="6922008"/>
            <a:ext cx="4544568" cy="2423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07024" y="6958584"/>
            <a:ext cx="4471416" cy="274320"/>
          </a:xfrm>
          <a:prstGeom prst="roundRect">
            <a:avLst/>
          </a:prstGeom>
          <a:solidFill>
            <a:srgbClr val="1B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18288"/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METHODOLOGY</a:t>
            </a:r>
          </a:p>
        </p:txBody>
      </p:sp>
      <p:pic>
        <p:nvPicPr>
          <p:cNvPr id="25" name="Picture 24" descr="poster_methodology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7333488"/>
            <a:ext cx="4343400" cy="173479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74320" y="9418320"/>
            <a:ext cx="6537960" cy="3063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0896" y="9454896"/>
            <a:ext cx="6464808" cy="274320"/>
          </a:xfrm>
          <a:prstGeom prst="round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18288"/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RESULTS AND PERFORMANCE ANALYSIS</a:t>
            </a:r>
          </a:p>
        </p:txBody>
      </p:sp>
      <p:pic>
        <p:nvPicPr>
          <p:cNvPr id="28" name="Picture 27" descr="poster_results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9802368"/>
            <a:ext cx="6355080" cy="2120569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922008" y="9418320"/>
            <a:ext cx="3493008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58584" y="9454896"/>
            <a:ext cx="3419856" cy="274320"/>
          </a:xfrm>
          <a:prstGeom prst="roundRect">
            <a:avLst/>
          </a:prstGeom>
          <a:solidFill>
            <a:srgbClr val="1B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18288"/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CONCLUSION AND FUTURE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3448" y="9729216"/>
            <a:ext cx="3310128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10" b="1">
                <a:solidFill>
                  <a:srgbClr val="1B1464"/>
                </a:solidFill>
                <a:latin typeface="Arial"/>
              </a:defRPr>
            </a:pPr>
            <a:r>
              <a:t>• Conclusion: </a:t>
            </a:r>
            <a:r>
              <a:rPr b="0">
                <a:solidFill>
                  <a:srgbClr val="0F172A"/>
                </a:solidFill>
              </a:rPr>
              <a:t>Successfully verified an end-to-end autonomous defense architecture. Random Forest delivers sub-millisecond detection (&lt;0.80 ms, F1=0.9512). The deterministic safety gate enforces 100% critical asset uptime, while Dueling DQN delivers superior cost-optimal response selection over single-threshold systems without kernel tampering.</a:t>
            </a:r>
          </a:p>
          <a:p>
            <a:pPr>
              <a:defRPr sz="710" b="1">
                <a:solidFill>
                  <a:srgbClr val="C1121F"/>
                </a:solidFill>
                <a:latin typeface="Arial"/>
              </a:defRPr>
            </a:pPr>
            <a:r>
              <a:t>• Future Work: </a:t>
            </a:r>
            <a:r>
              <a:rPr b="0">
                <a:solidFill>
                  <a:srgbClr val="0F172A"/>
                </a:solidFill>
              </a:rPr>
              <a:t>Hardware offload with DPDK / eBPF XDP for 10Gbps+ line-rate wire capture; cooperative multi-agent defense; and transformer-based offline cross-flow threat correlation.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22008" y="10954512"/>
            <a:ext cx="3493008" cy="1527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58584" y="10991088"/>
            <a:ext cx="3419856" cy="274320"/>
          </a:xfrm>
          <a:prstGeom prst="roundRect">
            <a:avLst/>
          </a:prstGeom>
          <a:solidFill>
            <a:srgbClr val="1B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18288"/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APPLICATIONS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11265408"/>
            <a:ext cx="3310128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10" b="1">
                <a:solidFill>
                  <a:srgbClr val="1B1464"/>
                </a:solidFill>
                <a:latin typeface="Arial"/>
              </a:defRPr>
            </a:pPr>
            <a:r>
              <a:t>① Enterprise SOCs: </a:t>
            </a:r>
            <a:r>
              <a:rPr b="0">
                <a:solidFill>
                  <a:srgbClr val="0F172A"/>
                </a:solidFill>
              </a:rPr>
              <a:t>Real-time alert triage &amp; automated Tier-1 incident containment.</a:t>
            </a:r>
          </a:p>
          <a:p>
            <a:pPr>
              <a:defRPr sz="710" b="1">
                <a:solidFill>
                  <a:srgbClr val="1B1464"/>
                </a:solidFill>
                <a:latin typeface="Arial"/>
              </a:defRPr>
            </a:pPr>
            <a:r>
              <a:t>② Cloud VPCs &amp; SDNs: </a:t>
            </a:r>
            <a:r>
              <a:rPr b="0">
                <a:solidFill>
                  <a:srgbClr val="0F172A"/>
                </a:solidFill>
              </a:rPr>
              <a:t>Dynamic security group isolation &amp; egress traffic shaping.</a:t>
            </a:r>
          </a:p>
          <a:p>
            <a:pPr>
              <a:defRPr sz="710" b="1">
                <a:solidFill>
                  <a:srgbClr val="1B1464"/>
                </a:solidFill>
                <a:latin typeface="Arial"/>
              </a:defRPr>
            </a:pPr>
            <a:r>
              <a:t>③ Smart Cities &amp; IoT: </a:t>
            </a:r>
            <a:r>
              <a:rPr b="0">
                <a:solidFill>
                  <a:srgbClr val="0F172A"/>
                </a:solidFill>
              </a:rPr>
              <a:t>Edge gateway anomaly filtering with zero collateral outages.</a:t>
            </a:r>
          </a:p>
          <a:p>
            <a:pPr>
              <a:defRPr sz="710" b="1">
                <a:solidFill>
                  <a:srgbClr val="1B1464"/>
                </a:solidFill>
                <a:latin typeface="Arial"/>
              </a:defRPr>
            </a:pPr>
            <a:r>
              <a:t>④ Critical Infrastructure: </a:t>
            </a:r>
            <a:r>
              <a:rPr b="0">
                <a:solidFill>
                  <a:srgbClr val="0F172A"/>
                </a:solidFill>
              </a:rPr>
              <a:t>Inviolable allowlisting &amp; OT boundary protection.</a:t>
            </a:r>
          </a:p>
          <a:p>
            <a:pPr>
              <a:defRPr sz="710" b="1">
                <a:solidFill>
                  <a:srgbClr val="1B1464"/>
                </a:solidFill>
                <a:latin typeface="Arial"/>
              </a:defRPr>
            </a:pPr>
            <a:r>
              <a:t>⑤ Defense Networks: </a:t>
            </a:r>
            <a:r>
              <a:rPr b="0">
                <a:solidFill>
                  <a:srgbClr val="0F172A"/>
                </a:solidFill>
              </a:rPr>
              <a:t>Sovereign active defense with explainable Shapley audit trails.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12554712"/>
            <a:ext cx="49834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0896" y="12591288"/>
            <a:ext cx="4910328" cy="274320"/>
          </a:xfrm>
          <a:prstGeom prst="roundRect">
            <a:avLst/>
          </a:prstGeom>
          <a:solidFill>
            <a:srgbClr val="1B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18288"/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DEMO VIDEO</a:t>
            </a:r>
          </a:p>
        </p:txBody>
      </p:sp>
      <p:pic>
        <p:nvPicPr>
          <p:cNvPr id="37" name="Picture 36" descr="qr_dem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12902184"/>
            <a:ext cx="1097280" cy="10972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600200" y="12883896"/>
            <a:ext cx="356616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B1464"/>
                </a:solidFill>
                <a:latin typeface="Arial"/>
              </a:defRPr>
            </a:pPr>
            <a:r>
              <a:t>Scan to watch the full project demonstration video:</a:t>
            </a:r>
          </a:p>
          <a:p>
            <a:pPr>
              <a:defRPr sz="750">
                <a:solidFill>
                  <a:srgbClr val="0F172A"/>
                </a:solidFill>
                <a:latin typeface="Arial"/>
              </a:defRPr>
            </a:pPr>
            <a:r>
              <a:t>• Wire-speed packet capture and PCAP stream replay</a:t>
            </a:r>
          </a:p>
          <a:p>
            <a:pPr>
              <a:defRPr sz="750">
                <a:solidFill>
                  <a:srgbClr val="0F172A"/>
                </a:solidFill>
                <a:latin typeface="Arial"/>
              </a:defRPr>
            </a:pPr>
            <a:r>
              <a:t>• Sub-millisecond Random Forest attack detection (&lt;0.80 ms)</a:t>
            </a:r>
          </a:p>
          <a:p>
            <a:pPr>
              <a:defRPr sz="750">
                <a:solidFill>
                  <a:srgbClr val="0F172A"/>
                </a:solidFill>
                <a:latin typeface="Arial"/>
              </a:defRPr>
            </a:pPr>
            <a:r>
              <a:t>• Real-time TreeSHAP waterfall feature attributions (&lt;2.5 ms)</a:t>
            </a:r>
          </a:p>
          <a:p>
            <a:pPr>
              <a:defRPr sz="750">
                <a:solidFill>
                  <a:srgbClr val="0F172A"/>
                </a:solidFill>
                <a:latin typeface="Arial"/>
              </a:defRPr>
            </a:pPr>
            <a:r>
              <a:t>• 4-tier Dueling DQN response execution under safety gate</a:t>
            </a:r>
          </a:p>
          <a:p>
            <a:pPr>
              <a:defRPr sz="750">
                <a:solidFill>
                  <a:srgbClr val="0F172A"/>
                </a:solidFill>
                <a:latin typeface="Arial"/>
              </a:defRPr>
            </a:pPr>
            <a:r>
              <a:t>• Interactive Streamlit SOC Dashboard (Port :8501)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94960" y="12554712"/>
            <a:ext cx="5020056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31536" y="12591288"/>
            <a:ext cx="4946904" cy="274320"/>
          </a:xfrm>
          <a:prstGeom prst="roundRect">
            <a:avLst/>
          </a:prstGeom>
          <a:solidFill>
            <a:srgbClr val="1B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18288"/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FEEDBACK</a:t>
            </a:r>
          </a:p>
        </p:txBody>
      </p:sp>
      <p:pic>
        <p:nvPicPr>
          <p:cNvPr id="41" name="Picture 40" descr="qr_feedb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12902184"/>
            <a:ext cx="1097280" cy="109728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20840" y="12883896"/>
            <a:ext cx="3584448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B1464"/>
                </a:solidFill>
                <a:latin typeface="Arial"/>
              </a:defRPr>
            </a:pPr>
            <a:r>
              <a:t>Scan to share your feedback and comments:</a:t>
            </a:r>
          </a:p>
          <a:p>
            <a:pPr>
              <a:defRPr sz="750">
                <a:solidFill>
                  <a:srgbClr val="0F172A"/>
                </a:solidFill>
                <a:latin typeface="Arial"/>
              </a:defRPr>
            </a:pPr>
            <a:r>
              <a:t>• We welcome feedback and evaluations from CSE faculty, industry evaluators, and visitors at Open Day 2026.</a:t>
            </a:r>
          </a:p>
          <a:p>
            <a:pPr>
              <a:defRPr sz="750">
                <a:solidFill>
                  <a:srgbClr val="0F172A"/>
                </a:solidFill>
                <a:latin typeface="Arial"/>
              </a:defRPr>
            </a:pPr>
            <a:r>
              <a:t>• Venue: Academic Block A, Lab A 204 | JSSATE Bengaluru</a:t>
            </a:r>
          </a:p>
          <a:p>
            <a:pPr>
              <a:defRPr sz="750">
                <a:solidFill>
                  <a:srgbClr val="0F172A"/>
                </a:solidFill>
                <a:latin typeface="Arial"/>
              </a:defRPr>
            </a:pPr>
            <a:r>
              <a:t>• Project Code &amp; Research Artifacts: github.com/rishikeshgowdakk/fyp-xrlids</a:t>
            </a:r>
          </a:p>
          <a:p>
            <a:pPr>
              <a:defRPr sz="750">
                <a:solidFill>
                  <a:srgbClr val="0F172A"/>
                </a:solidFill>
                <a:latin typeface="Arial"/>
              </a:defRPr>
            </a:pPr>
            <a:r>
              <a:t>• Department of Computer Science &amp; Engineering, JSSATE Bengaluru</a:t>
            </a:r>
          </a:p>
        </p:txBody>
      </p:sp>
      <p:pic>
        <p:nvPicPr>
          <p:cNvPr id="43" name="Picture 42" descr="template_footer_cle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4191488"/>
            <a:ext cx="10692079" cy="901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